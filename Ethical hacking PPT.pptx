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9" r:id="rId9"/>
    <p:sldId id="271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86759" autoAdjust="0"/>
  </p:normalViewPr>
  <p:slideViewPr>
    <p:cSldViewPr snapToGrid="0" snapToObjects="1">
      <p:cViewPr varScale="1">
        <p:scale>
          <a:sx n="68" d="100"/>
          <a:sy n="68" d="100"/>
        </p:scale>
        <p:origin x="1123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5608" y="1687398"/>
            <a:ext cx="11019934" cy="1913053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 Network Time Protocol Amplification and DDoS Simulation Testing Framework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990681" cy="1099258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2" y="191626"/>
            <a:ext cx="1240994" cy="109925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0AE971-FA18-7EA7-8406-1C5D588D3468}"/>
              </a:ext>
            </a:extLst>
          </p:cNvPr>
          <p:cNvSpPr txBox="1"/>
          <p:nvPr/>
        </p:nvSpPr>
        <p:spPr>
          <a:xfrm>
            <a:off x="775330" y="3996965"/>
            <a:ext cx="51470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IN" sz="2000" dirty="0"/>
              <a:t>Presented By:</a:t>
            </a:r>
          </a:p>
          <a:p>
            <a:pPr algn="ctr"/>
            <a:r>
              <a:rPr lang="en-IN" dirty="0" err="1"/>
              <a:t>G.Raju</a:t>
            </a:r>
            <a:r>
              <a:rPr lang="en-IN" dirty="0"/>
              <a:t> (192411065) </a:t>
            </a:r>
            <a:endParaRPr lang="en-IN" sz="1600" dirty="0"/>
          </a:p>
          <a:p>
            <a:pPr algn="ctr"/>
            <a:r>
              <a:rPr lang="en-IN" dirty="0"/>
              <a:t>         </a:t>
            </a:r>
            <a:r>
              <a:rPr lang="en-IN" dirty="0" err="1"/>
              <a:t>M.Chaitanya</a:t>
            </a:r>
            <a:r>
              <a:rPr lang="en-IN" dirty="0"/>
              <a:t>(192472047)</a:t>
            </a:r>
            <a:endParaRPr lang="en-IN" sz="1600" dirty="0"/>
          </a:p>
          <a:p>
            <a:br>
              <a:rPr lang="en-IN" sz="1600" dirty="0"/>
            </a:br>
            <a:r>
              <a:rPr lang="en-IN" sz="1600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7C4403-44F7-0943-6D66-F8B849950136}"/>
              </a:ext>
            </a:extLst>
          </p:cNvPr>
          <p:cNvSpPr txBox="1"/>
          <p:nvPr/>
        </p:nvSpPr>
        <p:spPr>
          <a:xfrm>
            <a:off x="7622940" y="4141556"/>
            <a:ext cx="2290713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dirty="0"/>
              <a:t>Guided BY:</a:t>
            </a:r>
          </a:p>
          <a:p>
            <a:pPr algn="ctr">
              <a:lnSpc>
                <a:spcPct val="150000"/>
              </a:lnSpc>
            </a:pPr>
            <a:r>
              <a:rPr lang="en-IN" dirty="0"/>
              <a:t>Dr. Ramesh </a:t>
            </a:r>
            <a:r>
              <a:rPr lang="en-IN" dirty="0" err="1"/>
              <a:t>kumar</a:t>
            </a:r>
            <a:r>
              <a:rPr lang="en-IN" dirty="0"/>
              <a:t> 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4754"/>
            <a:ext cx="10972800" cy="1143000"/>
          </a:xfrm>
        </p:spPr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68" y="1563329"/>
            <a:ext cx="7610573" cy="45259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Overview of the Project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framework to identify vulnerable NTP servers.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NTP amplification attacks in a controlled environment. 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attack impact and evaluate mitigation techniques.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detailed reports to help improve network security and resilience.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Problem Statement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Vulnerable NTP servers with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monlist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enabled can be exploited for DDoS attacks.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single framework exists to detect vulnerabilities, simulate attacks, and evaluate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need a safe testing environment to evaluate network security without affecting live systems.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66036"/>
            <a:ext cx="1009535" cy="971621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74754"/>
            <a:ext cx="1320417" cy="971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432478-81D7-7561-A6F5-B520FD4E02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4758" y="1563329"/>
            <a:ext cx="3689890" cy="47303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30139"/>
            <a:ext cx="10972800" cy="4525963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NTP servers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are vulnerable to amplification attacks.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servers with the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monlist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 enabled.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NTP amplification-based DDoS attacks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controlled environment.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the amplification factor, traffic volume, and network performance during attacks.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effectiveness of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 limiting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upstream traffic filtering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mitigation techniques.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detailed reports and security recommendations to improve network resilience against NTP-based DDoS attacks.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319782"/>
            <a:ext cx="1056669" cy="1052712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233132"/>
            <a:ext cx="1320417" cy="1226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253"/>
            <a:ext cx="10972800" cy="1143000"/>
          </a:xfrm>
        </p:spPr>
        <p:txBody>
          <a:bodyPr/>
          <a:lstStyle/>
          <a:p>
            <a:r>
              <a:rPr dirty="0"/>
              <a:t>Literature Review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6870ACE-B3CA-D9AA-49F1-CEA8451D3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334601"/>
              </p:ext>
            </p:extLst>
          </p:nvPr>
        </p:nvGraphicFramePr>
        <p:xfrm>
          <a:off x="450273" y="1153391"/>
          <a:ext cx="10997045" cy="5561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1577">
                  <a:extLst>
                    <a:ext uri="{9D8B030D-6E8A-4147-A177-3AD203B41FA5}">
                      <a16:colId xmlns:a16="http://schemas.microsoft.com/office/drawing/2014/main" val="3638630120"/>
                    </a:ext>
                  </a:extLst>
                </a:gridCol>
                <a:gridCol w="2018856">
                  <a:extLst>
                    <a:ext uri="{9D8B030D-6E8A-4147-A177-3AD203B41FA5}">
                      <a16:colId xmlns:a16="http://schemas.microsoft.com/office/drawing/2014/main" val="2084127097"/>
                    </a:ext>
                  </a:extLst>
                </a:gridCol>
                <a:gridCol w="3108306">
                  <a:extLst>
                    <a:ext uri="{9D8B030D-6E8A-4147-A177-3AD203B41FA5}">
                      <a16:colId xmlns:a16="http://schemas.microsoft.com/office/drawing/2014/main" val="2262022663"/>
                    </a:ext>
                  </a:extLst>
                </a:gridCol>
                <a:gridCol w="3108306">
                  <a:extLst>
                    <a:ext uri="{9D8B030D-6E8A-4147-A177-3AD203B41FA5}">
                      <a16:colId xmlns:a16="http://schemas.microsoft.com/office/drawing/2014/main" val="3977674139"/>
                    </a:ext>
                  </a:extLst>
                </a:gridCol>
              </a:tblGrid>
              <a:tr h="62389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00" b="1" dirty="0">
                          <a:solidFill>
                            <a:schemeClr val="bg1"/>
                          </a:solidFill>
                        </a:rPr>
                        <a:t>Author / Year</a:t>
                      </a:r>
                      <a:endParaRPr lang="en-IN" sz="150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00" b="1" dirty="0"/>
                        <a:t>Research Focus</a:t>
                      </a:r>
                      <a:endParaRPr lang="en-IN" sz="1500" dirty="0"/>
                    </a:p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Key Contribution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00" b="1" dirty="0"/>
                        <a:t>Limitation</a:t>
                      </a:r>
                      <a:endParaRPr lang="en-IN" sz="1500" dirty="0"/>
                    </a:p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811130"/>
                  </a:ext>
                </a:extLst>
              </a:tr>
              <a:tr h="1174385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00" b="1" dirty="0"/>
                        <a:t>Rossow (2025)</a:t>
                      </a:r>
                      <a:endParaRPr lang="en-IN" sz="1500" dirty="0"/>
                    </a:p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00" dirty="0"/>
                        <a:t>Studied amplification attacks using vulnerable UDP services, including NTP.</a:t>
                      </a:r>
                    </a:p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Identified amplification factors and vulnerable services.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00" dirty="0"/>
                        <a:t>Focused on attack analysis; limited mitigation evaluation</a:t>
                      </a:r>
                    </a:p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1321295"/>
                  </a:ext>
                </a:extLst>
              </a:tr>
              <a:tr h="138964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00" b="1" dirty="0"/>
                        <a:t>US-CERT (2023)</a:t>
                      </a:r>
                      <a:endParaRPr lang="en-IN" sz="1500" dirty="0"/>
                    </a:p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00" dirty="0"/>
                        <a:t>Published security guidelines to prevent NTP amplification attacks by disabling the </a:t>
                      </a:r>
                      <a:r>
                        <a:rPr lang="en-IN" sz="1500" b="1" dirty="0" err="1"/>
                        <a:t>monlist</a:t>
                      </a:r>
                      <a:r>
                        <a:rPr lang="en-IN" sz="1500" dirty="0"/>
                        <a:t> feature.</a:t>
                      </a:r>
                    </a:p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Recommended disabling the </a:t>
                      </a:r>
                      <a:r>
                        <a:rPr lang="en-IN" sz="1600" dirty="0" err="1"/>
                        <a:t>monlist</a:t>
                      </a:r>
                      <a:r>
                        <a:rPr lang="en-IN" sz="1600" dirty="0"/>
                        <a:t> feature.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00" dirty="0"/>
                        <a:t>Provided recommendations but no testing framework</a:t>
                      </a:r>
                    </a:p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192548"/>
                  </a:ext>
                </a:extLst>
              </a:tr>
              <a:tr h="99088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00" b="1" dirty="0"/>
                        <a:t>Mirkovic &amp; Reiher (2022)</a:t>
                      </a:r>
                      <a:endParaRPr lang="en-IN" sz="1500" dirty="0"/>
                    </a:p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Proposed DDoS </a:t>
                      </a:r>
                      <a:r>
                        <a:rPr lang="en-IN" sz="1500" dirty="0" err="1"/>
                        <a:t>defense</a:t>
                      </a:r>
                      <a:r>
                        <a:rPr lang="en-IN" sz="1500" dirty="0"/>
                        <a:t> mechanisms and attack classification techniques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Proposed DDoS </a:t>
                      </a:r>
                      <a:r>
                        <a:rPr lang="en-IN" sz="1600" dirty="0" err="1"/>
                        <a:t>defense</a:t>
                      </a:r>
                      <a:r>
                        <a:rPr lang="en-IN" sz="1600" dirty="0"/>
                        <a:t> and classification techniques.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00" dirty="0"/>
                        <a:t>Did not specifically address NTP amplification attacks.</a:t>
                      </a:r>
                    </a:p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531042"/>
                  </a:ext>
                </a:extLst>
              </a:tr>
              <a:tr h="117251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00" b="1" dirty="0"/>
                        <a:t>Cloudflare Research</a:t>
                      </a:r>
                      <a:endParaRPr lang="en-IN" sz="1500" dirty="0"/>
                    </a:p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Implemented rate limiting and traffic filtering to mitigate large-scale DDoS attacks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Demonstrated practical DDoS mitigation approaches.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00" dirty="0"/>
                        <a:t>Primarily focused on production environments rather than simulation</a:t>
                      </a:r>
                    </a:p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19297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432" y="363977"/>
            <a:ext cx="3591613" cy="675195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A0DD39-FAD6-FA75-1D1C-E1AFA3F95095}"/>
              </a:ext>
            </a:extLst>
          </p:cNvPr>
          <p:cNvSpPr txBox="1"/>
          <p:nvPr/>
        </p:nvSpPr>
        <p:spPr>
          <a:xfrm>
            <a:off x="444936" y="1381216"/>
            <a:ext cx="749243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Enumerated NTP servers to identify systems vulnerable to amplification attacks and detect the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monlist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the testing framework using Python,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Scapy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Nmap, and Wireshark for packet analysis and simulation.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NTP amplification attacks in a controlled environment to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traffic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attack impact.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 data, including amplification factor, response size, bandwidth utilization, and packet statistics.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and evaluated mitigation techniques, such as rate limiting and upstream traffic filtering, to measure their effectiveness in reducing DDoS attacks.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10A0F96-E58C-8E45-15D2-47A81423F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9955" y="1198912"/>
            <a:ext cx="3487109" cy="52582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29D631C-896E-7B28-42A2-CD9D9A5AD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391" y="226243"/>
            <a:ext cx="10287000" cy="65044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33190"/>
            <a:ext cx="10972800" cy="1143000"/>
          </a:xfrm>
        </p:spPr>
        <p:txBody>
          <a:bodyPr>
            <a:normAutofit/>
          </a:bodyPr>
          <a:lstStyle/>
          <a:p>
            <a:pPr fontAlgn="base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NTP Server Enumeration &amp;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Monlist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Module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018961" cy="108456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250062"/>
            <a:ext cx="1212713" cy="102612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4B4ADBE-0C2E-D7CA-14A6-3427D9275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352" y="1560872"/>
            <a:ext cx="11834647" cy="4525963"/>
          </a:xfrm>
        </p:spPr>
        <p:txBody>
          <a:bodyPr>
            <a:noAutofit/>
          </a:bodyPr>
          <a:lstStyle/>
          <a:p>
            <a:pPr lvl="0" algn="just" fontAlgn="base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NTP Servers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We searched the network for computers running NTP service by scanning UDP port 123 using Nmap tools and NTP queries.</a:t>
            </a:r>
          </a:p>
          <a:p>
            <a:pPr lvl="0" algn="just" fontAlgn="base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for the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Monlist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We sent a special "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monlist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request to each server. If a server sent back a big list of connected devices, we marked it as vulnerable and dangerous.</a:t>
            </a:r>
          </a:p>
          <a:p>
            <a:pPr lvl="0" algn="just" fontAlgn="base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Calculating the Amplification Power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We compared the size of our small request to the giant response we got back. This gave us the amplification factor (for example, 1 small packet triggers 500x bigger traffic).</a:t>
            </a:r>
          </a:p>
          <a:p>
            <a:pPr lvl="0" algn="just" fontAlgn="base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Delivered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report listing all the risky servers, their addresses, response sizes, and how powerful each one could be in an attack.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69432F-0151-B4FB-A59A-8A902BBDA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64E7-FC61-E476-6636-C461FEECD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3190"/>
            <a:ext cx="10972800" cy="1143000"/>
          </a:xfrm>
        </p:spPr>
        <p:txBody>
          <a:bodyPr>
            <a:normAutofit/>
          </a:bodyPr>
          <a:lstStyle/>
          <a:p>
            <a:pPr fontAlgn="base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Amplification Attack Simulation Module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F89B2A-5774-2D67-C4B9-9B9F6DF22A5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018961" cy="108456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759268-1E78-19F1-F6E5-74107456BDA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250062"/>
            <a:ext cx="1212713" cy="102612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5223E13-665C-05A4-865C-3E9BB54B6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16" y="1560872"/>
            <a:ext cx="11729883" cy="4525963"/>
          </a:xfrm>
        </p:spPr>
        <p:txBody>
          <a:bodyPr>
            <a:noAutofit/>
          </a:bodyPr>
          <a:lstStyle/>
          <a:p>
            <a:pPr lvl="0" fontAlgn="base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Fake Attack Traffic: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tools like hping3 and Python scripts, we built fake NTP request packets in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closed lab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completely isolated so no real network was harmed.</a:t>
            </a:r>
          </a:p>
          <a:p>
            <a:pPr lvl="0" fontAlgn="base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Watching the Network Flood: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used iperf3 and Wireshark to measure how much fake traffic hit the target, and whether the network link became overloaded.</a:t>
            </a:r>
          </a:p>
          <a:p>
            <a:pPr lvl="0" fontAlgn="base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Recording the Damage: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tracked peak traffic volume, how much the target bandwidth filled up, and how much slower the network became compared to normal.</a:t>
            </a:r>
          </a:p>
          <a:p>
            <a:pPr lvl="0" fontAlgn="base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Delivered: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Simulation results with graphs and numbers showing exactly how badly the attack could crush network performance.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290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AA5FD5-E304-3EEC-23E4-EB31AF3EE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38380-FB3F-D972-324E-5CD8CA0B4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3190"/>
            <a:ext cx="10972800" cy="1143000"/>
          </a:xfrm>
        </p:spPr>
        <p:txBody>
          <a:bodyPr/>
          <a:lstStyle/>
          <a:p>
            <a:r>
              <a:rPr dirty="0"/>
              <a:t>Results &amp; Discussion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E02DA2-4C43-7652-98B9-F97F9BD2811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018961" cy="108456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0BEDEE-E172-0316-AF1B-02DB479B7E9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250062"/>
            <a:ext cx="1212713" cy="102612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8CE5E3-6B9F-ADDE-4F9D-97DDC7892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16" y="1560872"/>
            <a:ext cx="11729883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 of the Project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identified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NTP servers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vulnerable to amplification attacks.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NTP amplification attacks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measured their impact on network traffic.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mitigation techniques to reduce attack intensity and bandwidth consumption. 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Existing Solutions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detection, attack simulation, and mitigation testing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a single framework.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traffic analysis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performance evaluation compared to conventional standalone tools.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688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Challenges &amp; Limitations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143000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320417" cy="107156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114A93-9BF8-E9C0-4EA1-3E220F8B2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051" y="1949816"/>
            <a:ext cx="10972800" cy="4525963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Environment: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framework is tested in a controlled laboratory setup, so results may differ from real-world network environments.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Vulnerable Servers: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Most modern NTP servers have the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monlist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 disabled, making vulnerable servers difficult to identify.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Constraints: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Simulating large-scale NTP amplification attacks requires significant computing power, bandwidth, and network resources.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 Effectiveness: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Rate limiting and upstream filtering reduce attack impact but cannot completely eliminate all DDoS threats.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Scope: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framework focuses only on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NTP amplification attacks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does not cover other DDoS amplification protocols or attack methods.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340" y="1715831"/>
            <a:ext cx="7429796" cy="4525963"/>
          </a:xfrm>
        </p:spPr>
        <p:txBody>
          <a:bodyPr>
            <a:noAutofit/>
          </a:bodyPr>
          <a:lstStyle/>
          <a:p>
            <a:pPr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Threat Detection</a:t>
            </a:r>
          </a:p>
          <a:p>
            <a:pPr marL="0" indent="0" algn="just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 Integrate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(ML)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 to detect and predict NTP amplification attacks in real      	time. </a:t>
            </a:r>
          </a:p>
          <a:p>
            <a:pPr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Deployment</a:t>
            </a:r>
          </a:p>
          <a:p>
            <a:pPr marL="0" indent="0" algn="just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Deploy the framework on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scalable testing, monitoring, and remote access. </a:t>
            </a:r>
          </a:p>
          <a:p>
            <a:pPr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Multi-Protocol Support</a:t>
            </a:r>
          </a:p>
          <a:p>
            <a:pPr marL="0" indent="0" algn="just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Extend the framework to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other amplification attacks such as DNS, SSDP, Memcached, and CLDAP. </a:t>
            </a:r>
          </a:p>
          <a:p>
            <a:pPr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Monitoring Dashboard</a:t>
            </a:r>
          </a:p>
          <a:p>
            <a:pPr marL="0" indent="0" algn="just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Develop a real-time dashboard to visualize attack traffic, performance metrics, and mitigation status. 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009535" cy="1047239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7"/>
            <a:ext cx="1205821" cy="870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F89E0E-2788-6600-E39B-8285D1CE56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7859" y="1947906"/>
            <a:ext cx="3520745" cy="4061812"/>
          </a:xfrm>
          <a:prstGeom prst="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  <a:outerShdw blurRad="50800" dist="38100" dir="9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30139"/>
            <a:ext cx="10972800" cy="4525963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framework to identify vulnerable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NTP servers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simulate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NTP amplification attacks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impact of amplification attacks using traffic, bandwidth, and network performance metrics.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mitigation techniques including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 limiting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upstream traffic filtering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a secure and controlled environment for cybersecurity testing and research.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Concluded that the proposed framework helps improve network security and strengthens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against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NTP-based DDoS attacks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9900" y="274638"/>
            <a:ext cx="1135117" cy="1259872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410676" cy="1226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03DB95-B647-C3C8-3E7E-6FD267EE5C09}"/>
              </a:ext>
            </a:extLst>
          </p:cNvPr>
          <p:cNvSpPr txBox="1"/>
          <p:nvPr/>
        </p:nvSpPr>
        <p:spPr>
          <a:xfrm>
            <a:off x="840557" y="1624320"/>
            <a:ext cx="1051088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C. Rossow, “Amplification Hell: Revisiting Network Protocols for DDoS Abuse,” in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Network and Distributed System Security Symposium (NDSS)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San Diego, CA, USA, Feb. 2025.</a:t>
            </a: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US-CERT, “NTP Amplification Attacks Using the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Monlist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Command,” Alert TA14-013A, Jan. 2024.</a:t>
            </a: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Ferguson and D. Senie, “Network Ingress Filtering: Defeating Denial of Service Attacks Which Employ IP Source Address Spoofing,” RFC 2827, Internet Engineering Task Force (IETF), May 2022.</a:t>
            </a: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Mirkovic and P. Reiher, “A Taxonomy of DDoS Attack and DDoS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Mechanisms,”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ACM SIGCOMM Computer Communication Review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34, no. 2, pp. 39–53, Apr. 2022.</a:t>
            </a: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Mills, J. Martin, J. Burbank, and W. Kasch, “Network Time Protocol Version 4: Protocol and Algorithms Specification,” RFC 5905, Internet Engineering Task Force (IETF), Jun. 2021.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25F10B7-5B6A-E9FB-2B82-01817367D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1216</Words>
  <Application>Microsoft Office PowerPoint</Application>
  <PresentationFormat>Widescreen</PresentationFormat>
  <Paragraphs>98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Development of a Network Time Protocol Amplification and DDoS Simulation Testing Framework </vt:lpstr>
      <vt:lpstr>Introduction</vt:lpstr>
      <vt:lpstr>Objectives</vt:lpstr>
      <vt:lpstr>Literature Review</vt:lpstr>
      <vt:lpstr>Methodology</vt:lpstr>
      <vt:lpstr>PowerPoint Presentation</vt:lpstr>
      <vt:lpstr>Module 1: NTP Server Enumeration &amp; Monlist Detection Module</vt:lpstr>
      <vt:lpstr>Module 2: Amplification Attack Simulation Module</vt:lpstr>
      <vt:lpstr>Results &amp; Discussion</vt:lpstr>
      <vt:lpstr>Challenges &amp; Limitations</vt:lpstr>
      <vt:lpstr>Future Scope</vt:lpstr>
      <vt:lpstr>Conclusion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subject/>
  <dc:creator>sankar</dc:creator>
  <cp:keywords/>
  <dc:description>generated using python-pptx</dc:description>
  <cp:lastModifiedBy>gangula Raju</cp:lastModifiedBy>
  <cp:revision>17</cp:revision>
  <dcterms:created xsi:type="dcterms:W3CDTF">2013-01-27T09:14:16Z</dcterms:created>
  <dcterms:modified xsi:type="dcterms:W3CDTF">2026-09-03T12:11:14Z</dcterms:modified>
  <cp:category/>
</cp:coreProperties>
</file>